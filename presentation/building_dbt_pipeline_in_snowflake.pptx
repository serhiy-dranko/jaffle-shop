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League Spartan" charset="1" panose="00000800000000000000"/>
      <p:regular r:id="rId14"/>
    </p:embeddedFont>
    <p:embeddedFont>
      <p:font typeface="Canva Sans Bold" charset="1" panose="020B0803030501040103"/>
      <p:regular r:id="rId15"/>
    </p:embeddedFont>
    <p:embeddedFont>
      <p:font typeface="Signika" charset="1" panose="02010003020600000004"/>
      <p:regular r:id="rId16"/>
    </p:embeddedFont>
    <p:embeddedFont>
      <p:font typeface="Times New Roman" charset="1" panose="02020603050405020304"/>
      <p:regular r:id="rId17"/>
    </p:embeddedFont>
    <p:embeddedFont>
      <p:font typeface="Open Sauce Bold" charset="1" panose="00000800000000000000"/>
      <p:regular r:id="rId18"/>
    </p:embeddedFont>
    <p:embeddedFont>
      <p:font typeface="Signika Bold" charset="1" panose="02010003020600000004"/>
      <p:regular r:id="rId19"/>
    </p:embeddedFont>
    <p:embeddedFont>
      <p:font typeface="Amaranth Bold" charset="1" panose="02000500000000020004"/>
      <p:regular r:id="rId20"/>
    </p:embeddedFont>
    <p:embeddedFont>
      <p:font typeface="Petrona Bold" charset="1" panose="00000000000000000000"/>
      <p:regular r:id="rId21"/>
    </p:embeddedFont>
    <p:embeddedFont>
      <p:font typeface="Open Sauce Bold Italics" charset="1" panose="00000800000000000000"/>
      <p:regular r:id="rId22"/>
    </p:embeddedFont>
    <p:embeddedFont>
      <p:font typeface="Canva Sans" charset="1" panose="020B0503030501040103"/>
      <p:regular r:id="rId23"/>
    </p:embeddedFont>
    <p:embeddedFont>
      <p:font typeface="Canva Sans Bold Italics" charset="1" panose="020B0803030501040103"/>
      <p:regular r:id="rId24"/>
    </p:embeddedFont>
    <p:embeddedFont>
      <p:font typeface="Canva Sans Italics" charset="1" panose="020B05030305010401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https://github.com/dbt-labs" TargetMode="External" Type="http://schemas.openxmlformats.org/officeDocument/2006/relationships/hyperlink"/><Relationship Id="rId4" Target="https://github.com/dbt-labs/jaffle-shop-classic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https://github.com/dbt-labs" TargetMode="External" Type="http://schemas.openxmlformats.org/officeDocument/2006/relationships/hyperlink"/><Relationship Id="rId6" Target="https://github.com/dbt-labs/jaffle-shop-classic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https://github.com/dbt-labs" TargetMode="External" Type="http://schemas.openxmlformats.org/officeDocument/2006/relationships/hyperlink"/><Relationship Id="rId4" Target="https://github.com/dbt-labs/jaffle-shop-classic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https://github.com/dbt-labs" TargetMode="External" Type="http://schemas.openxmlformats.org/officeDocument/2006/relationships/hyperlink"/><Relationship Id="rId4" Target="https://github.com/dbt-labs/jaffle-shop-classic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github.com/dbt-labs" TargetMode="External" Type="http://schemas.openxmlformats.org/officeDocument/2006/relationships/hyperlink"/><Relationship Id="rId4" Target="https://github.com/dbt-labs/jaffle-shop-classic" TargetMode="External" Type="http://schemas.openxmlformats.org/officeDocument/2006/relationships/hyperlink"/><Relationship Id="rId5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https://github.com/dbt-labs" TargetMode="External" Type="http://schemas.openxmlformats.org/officeDocument/2006/relationships/hyperlink"/><Relationship Id="rId4" Target="https://github.com/dbt-labs/jaffle-shop-classic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https://github.com/dbt-labs" TargetMode="External" Type="http://schemas.openxmlformats.org/officeDocument/2006/relationships/hyperlink"/><Relationship Id="rId4" Target="https://github.com/dbt-labs/jaffle-shop-classic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343595" cy="10287000"/>
          </a:xfrm>
          <a:custGeom>
            <a:avLst/>
            <a:gdLst/>
            <a:ahLst/>
            <a:cxnLst/>
            <a:rect r="r" b="b" t="t" l="l"/>
            <a:pathLst>
              <a:path h="10287000" w="18343595">
                <a:moveTo>
                  <a:pt x="0" y="0"/>
                </a:moveTo>
                <a:lnTo>
                  <a:pt x="18343595" y="0"/>
                </a:lnTo>
                <a:lnTo>
                  <a:pt x="1834359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4581" y="5375662"/>
            <a:ext cx="12667251" cy="241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47"/>
              </a:lnSpc>
            </a:pPr>
            <a:r>
              <a:rPr lang="en-US" sz="6962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Building a Production style dbt Pipeline in Snowflake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27899" y="1527902"/>
            <a:ext cx="9213236" cy="580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 b="true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J</a:t>
            </a:r>
            <a:r>
              <a:rPr lang="en-US" b="true" sz="340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AFFLE SHOP ANALYTICS PIPELINE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9368" y="8869046"/>
            <a:ext cx="11026544" cy="389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ignika"/>
                <a:ea typeface="Signika"/>
                <a:cs typeface="Signika"/>
                <a:sym typeface="Signika"/>
              </a:rPr>
              <a:t>dbt Deep Dive project • dbt Core + Snowflake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4581" y="9339931"/>
            <a:ext cx="3637695" cy="389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20"/>
              </a:lnSpc>
            </a:pPr>
            <a:r>
              <a:rPr lang="en-US" sz="230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ignika"/>
                <a:ea typeface="Signika"/>
                <a:cs typeface="Signika"/>
                <a:sym typeface="Signika"/>
              </a:rPr>
              <a:t>Serhiy Dranko • 21.08.2026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4904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65661" y="2543479"/>
            <a:ext cx="1047797" cy="1063721"/>
            <a:chOff x="0" y="0"/>
            <a:chExt cx="275963" cy="2801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5963" cy="280157"/>
            </a:xfrm>
            <a:custGeom>
              <a:avLst/>
              <a:gdLst/>
              <a:ahLst/>
              <a:cxnLst/>
              <a:rect r="r" b="b" t="t" l="l"/>
              <a:pathLst>
                <a:path h="280157" w="275963">
                  <a:moveTo>
                    <a:pt x="125609" y="0"/>
                  </a:moveTo>
                  <a:lnTo>
                    <a:pt x="150354" y="0"/>
                  </a:lnTo>
                  <a:cubicBezTo>
                    <a:pt x="183668" y="0"/>
                    <a:pt x="215617" y="13234"/>
                    <a:pt x="239173" y="36790"/>
                  </a:cubicBezTo>
                  <a:cubicBezTo>
                    <a:pt x="262729" y="60346"/>
                    <a:pt x="275963" y="92295"/>
                    <a:pt x="275963" y="125609"/>
                  </a:cubicBezTo>
                  <a:lnTo>
                    <a:pt x="275963" y="154548"/>
                  </a:lnTo>
                  <a:cubicBezTo>
                    <a:pt x="275963" y="223920"/>
                    <a:pt x="219726" y="280157"/>
                    <a:pt x="150354" y="280157"/>
                  </a:cubicBezTo>
                  <a:lnTo>
                    <a:pt x="125609" y="280157"/>
                  </a:lnTo>
                  <a:cubicBezTo>
                    <a:pt x="56237" y="280157"/>
                    <a:pt x="0" y="223920"/>
                    <a:pt x="0" y="154548"/>
                  </a:cubicBezTo>
                  <a:lnTo>
                    <a:pt x="0" y="125609"/>
                  </a:lnTo>
                  <a:cubicBezTo>
                    <a:pt x="0" y="56237"/>
                    <a:pt x="56237" y="0"/>
                    <a:pt x="125609" y="0"/>
                  </a:cubicBezTo>
                  <a:close/>
                </a:path>
              </a:pathLst>
            </a:custGeom>
            <a:solidFill>
              <a:srgbClr val="00357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5963" cy="32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65661" y="4054875"/>
            <a:ext cx="1047797" cy="1063721"/>
            <a:chOff x="0" y="0"/>
            <a:chExt cx="275963" cy="2801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5963" cy="280157"/>
            </a:xfrm>
            <a:custGeom>
              <a:avLst/>
              <a:gdLst/>
              <a:ahLst/>
              <a:cxnLst/>
              <a:rect r="r" b="b" t="t" l="l"/>
              <a:pathLst>
                <a:path h="280157" w="275963">
                  <a:moveTo>
                    <a:pt x="125609" y="0"/>
                  </a:moveTo>
                  <a:lnTo>
                    <a:pt x="150354" y="0"/>
                  </a:lnTo>
                  <a:cubicBezTo>
                    <a:pt x="183668" y="0"/>
                    <a:pt x="215617" y="13234"/>
                    <a:pt x="239173" y="36790"/>
                  </a:cubicBezTo>
                  <a:cubicBezTo>
                    <a:pt x="262729" y="60346"/>
                    <a:pt x="275963" y="92295"/>
                    <a:pt x="275963" y="125609"/>
                  </a:cubicBezTo>
                  <a:lnTo>
                    <a:pt x="275963" y="154548"/>
                  </a:lnTo>
                  <a:cubicBezTo>
                    <a:pt x="275963" y="223920"/>
                    <a:pt x="219726" y="280157"/>
                    <a:pt x="150354" y="280157"/>
                  </a:cubicBezTo>
                  <a:lnTo>
                    <a:pt x="125609" y="280157"/>
                  </a:lnTo>
                  <a:cubicBezTo>
                    <a:pt x="56237" y="280157"/>
                    <a:pt x="0" y="223920"/>
                    <a:pt x="0" y="154548"/>
                  </a:cubicBezTo>
                  <a:lnTo>
                    <a:pt x="0" y="125609"/>
                  </a:lnTo>
                  <a:cubicBezTo>
                    <a:pt x="0" y="56237"/>
                    <a:pt x="56237" y="0"/>
                    <a:pt x="125609" y="0"/>
                  </a:cubicBezTo>
                  <a:close/>
                </a:path>
              </a:pathLst>
            </a:custGeom>
            <a:solidFill>
              <a:srgbClr val="00357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75963" cy="32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65661" y="5565961"/>
            <a:ext cx="1047797" cy="1063721"/>
            <a:chOff x="0" y="0"/>
            <a:chExt cx="275963" cy="28015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5963" cy="280157"/>
            </a:xfrm>
            <a:custGeom>
              <a:avLst/>
              <a:gdLst/>
              <a:ahLst/>
              <a:cxnLst/>
              <a:rect r="r" b="b" t="t" l="l"/>
              <a:pathLst>
                <a:path h="280157" w="275963">
                  <a:moveTo>
                    <a:pt x="125609" y="0"/>
                  </a:moveTo>
                  <a:lnTo>
                    <a:pt x="150354" y="0"/>
                  </a:lnTo>
                  <a:cubicBezTo>
                    <a:pt x="183668" y="0"/>
                    <a:pt x="215617" y="13234"/>
                    <a:pt x="239173" y="36790"/>
                  </a:cubicBezTo>
                  <a:cubicBezTo>
                    <a:pt x="262729" y="60346"/>
                    <a:pt x="275963" y="92295"/>
                    <a:pt x="275963" y="125609"/>
                  </a:cubicBezTo>
                  <a:lnTo>
                    <a:pt x="275963" y="154548"/>
                  </a:lnTo>
                  <a:cubicBezTo>
                    <a:pt x="275963" y="223920"/>
                    <a:pt x="219726" y="280157"/>
                    <a:pt x="150354" y="280157"/>
                  </a:cubicBezTo>
                  <a:lnTo>
                    <a:pt x="125609" y="280157"/>
                  </a:lnTo>
                  <a:cubicBezTo>
                    <a:pt x="56237" y="280157"/>
                    <a:pt x="0" y="223920"/>
                    <a:pt x="0" y="154548"/>
                  </a:cubicBezTo>
                  <a:lnTo>
                    <a:pt x="0" y="125609"/>
                  </a:lnTo>
                  <a:cubicBezTo>
                    <a:pt x="0" y="56237"/>
                    <a:pt x="56237" y="0"/>
                    <a:pt x="125609" y="0"/>
                  </a:cubicBezTo>
                  <a:close/>
                </a:path>
              </a:pathLst>
            </a:custGeom>
            <a:solidFill>
              <a:srgbClr val="00357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75963" cy="32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418668" y="9772535"/>
            <a:ext cx="5450664" cy="514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3"/>
              </a:lnSpc>
            </a:pPr>
            <a:r>
              <a:rPr lang="en-US" sz="1495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 </a:t>
            </a:r>
            <a:r>
              <a:rPr lang="en-US" sz="1495" u="sng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 tooltip="https://github.com/dbt-labs"/>
              </a:rPr>
              <a:t>dbt-labs</a:t>
            </a:r>
            <a:r>
              <a:rPr lang="en-US" sz="1495" u="sng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95" u="sng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 tooltip="https://github.com/dbt-labs/jaffle-shop-classic"/>
              </a:rPr>
              <a:t>jaffle-shop-classic</a:t>
            </a:r>
            <a:r>
              <a:rPr lang="en-US" sz="1495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95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Imported at 17.08.2026 09:50:00</a:t>
            </a:r>
          </a:p>
          <a:p>
            <a:pPr algn="l">
              <a:lnSpc>
                <a:spcPts val="2093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372815" y="173214"/>
            <a:ext cx="3637407" cy="384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2"/>
              </a:lnSpc>
            </a:pPr>
            <a:r>
              <a:rPr lang="en-US" sz="2230" b="true">
                <a:solidFill>
                  <a:srgbClr val="1D5EA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01 - Th</a:t>
            </a:r>
            <a:r>
              <a:rPr lang="en-US" b="true" sz="2230">
                <a:solidFill>
                  <a:srgbClr val="1D5EA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 problem / dataset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72815" y="952500"/>
            <a:ext cx="10815144" cy="66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5"/>
              </a:lnSpc>
            </a:pPr>
            <a:r>
              <a:rPr lang="en-US" sz="3882" b="true">
                <a:solidFill>
                  <a:srgbClr val="00357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Raw e-commerce data. Main questions.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55339" y="2641317"/>
            <a:ext cx="9752274" cy="1153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b="true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Who are our customers?</a:t>
            </a:r>
          </a:p>
          <a:p>
            <a:pPr algn="l">
              <a:lnSpc>
                <a:spcPts val="3096"/>
              </a:lnSpc>
            </a:pPr>
            <a:r>
              <a:rPr lang="en-US" sz="22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Clean, deduplicated customer records analysts can trust.</a:t>
            </a:r>
          </a:p>
          <a:p>
            <a:pPr algn="l">
              <a:lnSpc>
                <a:spcPts val="3096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2937157" y="4152713"/>
            <a:ext cx="9752274" cy="1153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b="true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What are they ordering and how order goes?</a:t>
            </a:r>
          </a:p>
          <a:p>
            <a:pPr algn="l">
              <a:lnSpc>
                <a:spcPts val="3096"/>
              </a:lnSpc>
            </a:pPr>
            <a:r>
              <a:rPr lang="en-US" sz="22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Orders linked to payments, with a reliable total per order</a:t>
            </a:r>
          </a:p>
          <a:p>
            <a:pPr algn="l">
              <a:lnSpc>
                <a:spcPts val="3096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2937157" y="5734832"/>
            <a:ext cx="9752274" cy="762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b="true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How has pricing changed?</a:t>
            </a:r>
          </a:p>
          <a:p>
            <a:pPr algn="l">
              <a:lnSpc>
                <a:spcPts val="3096"/>
              </a:lnSpc>
            </a:pPr>
            <a:r>
              <a:rPr lang="en-US" sz="22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Full price history per product. It’s not just the current price.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65661" y="2584167"/>
            <a:ext cx="104779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F4F5F8"/>
                </a:solidFill>
                <a:latin typeface="Amaranth Bold"/>
                <a:ea typeface="Amaranth Bold"/>
                <a:cs typeface="Amaranth Bold"/>
                <a:sym typeface="Amaranth Bold"/>
              </a:rPr>
              <a:t>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65661" y="4095563"/>
            <a:ext cx="104779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4F5F8"/>
                </a:solidFill>
                <a:latin typeface="Amaranth Bold"/>
                <a:ea typeface="Amaranth Bold"/>
                <a:cs typeface="Amaranth Bold"/>
                <a:sym typeface="Amaranth Bold"/>
              </a:rPr>
              <a:t>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65661" y="5606649"/>
            <a:ext cx="104779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4F5F8"/>
                </a:solidFill>
                <a:latin typeface="Amaranth Bold"/>
                <a:ea typeface="Amaranth Bold"/>
                <a:cs typeface="Amaranth Bold"/>
                <a:sym typeface="Amaranth Bold"/>
              </a:rP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72544" y="1704335"/>
            <a:ext cx="13884774" cy="5306582"/>
          </a:xfrm>
          <a:custGeom>
            <a:avLst/>
            <a:gdLst/>
            <a:ahLst/>
            <a:cxnLst/>
            <a:rect r="r" b="b" t="t" l="l"/>
            <a:pathLst>
              <a:path h="5306582" w="13884774">
                <a:moveTo>
                  <a:pt x="0" y="0"/>
                </a:moveTo>
                <a:lnTo>
                  <a:pt x="13884774" y="0"/>
                </a:lnTo>
                <a:lnTo>
                  <a:pt x="13884774" y="5306582"/>
                </a:lnTo>
                <a:lnTo>
                  <a:pt x="0" y="5306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07181" y="7191892"/>
            <a:ext cx="13206592" cy="2281259"/>
          </a:xfrm>
          <a:custGeom>
            <a:avLst/>
            <a:gdLst/>
            <a:ahLst/>
            <a:cxnLst/>
            <a:rect r="r" b="b" t="t" l="l"/>
            <a:pathLst>
              <a:path h="2281259" w="13206592">
                <a:moveTo>
                  <a:pt x="0" y="0"/>
                </a:moveTo>
                <a:lnTo>
                  <a:pt x="13206592" y="0"/>
                </a:lnTo>
                <a:lnTo>
                  <a:pt x="13206592" y="2281259"/>
                </a:lnTo>
                <a:lnTo>
                  <a:pt x="0" y="22812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396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589599" y="9772535"/>
            <a:ext cx="5450664" cy="514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3"/>
              </a:lnSpc>
            </a:pPr>
            <a:r>
              <a:rPr lang="en-US" sz="1495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 </a:t>
            </a:r>
            <a:r>
              <a:rPr lang="en-US" sz="1495" u="sng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 tooltip="https://github.com/dbt-labs"/>
              </a:rPr>
              <a:t>dbt-labs</a:t>
            </a:r>
            <a:r>
              <a:rPr lang="en-US" sz="1495" u="sng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95" u="sng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 tooltip="https://github.com/dbt-labs/jaffle-shop-classic"/>
              </a:rPr>
              <a:t>jaffle-shop-classic</a:t>
            </a:r>
            <a:r>
              <a:rPr lang="en-US" sz="1495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95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Imported at 17.08.2026 09:50:00</a:t>
            </a:r>
          </a:p>
          <a:p>
            <a:pPr algn="l">
              <a:lnSpc>
                <a:spcPts val="2093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08073" y="141365"/>
            <a:ext cx="2303562" cy="381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2"/>
              </a:lnSpc>
            </a:pPr>
            <a:r>
              <a:rPr lang="en-US" sz="2230" b="true">
                <a:solidFill>
                  <a:srgbClr val="1D5EA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02 - Th</a:t>
            </a:r>
            <a:r>
              <a:rPr lang="en-US" sz="2230" b="true">
                <a:solidFill>
                  <a:srgbClr val="1D5EA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 Pipeline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8073" y="856955"/>
            <a:ext cx="10815144" cy="66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5"/>
              </a:lnSpc>
            </a:pPr>
            <a:r>
              <a:rPr lang="en-US" sz="3882" b="true">
                <a:solidFill>
                  <a:srgbClr val="00357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Four layers, one dependency graph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18668" y="9772535"/>
            <a:ext cx="5450664" cy="514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3"/>
              </a:lnSpc>
            </a:pPr>
            <a:r>
              <a:rPr lang="en-US" sz="1495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 </a:t>
            </a:r>
            <a:r>
              <a:rPr lang="en-US" sz="1495" u="sng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 tooltip="https://github.com/dbt-labs"/>
              </a:rPr>
              <a:t>dbt-labs</a:t>
            </a:r>
            <a:r>
              <a:rPr lang="en-US" sz="1495" u="sng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95" u="sng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 tooltip="https://github.com/dbt-labs/jaffle-shop-classic"/>
              </a:rPr>
              <a:t>jaffle-shop-classic</a:t>
            </a:r>
            <a:r>
              <a:rPr lang="en-US" sz="1495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95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Imported at 17.08.2026 09:50:00</a:t>
            </a:r>
          </a:p>
          <a:p>
            <a:pPr algn="l">
              <a:lnSpc>
                <a:spcPts val="2093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372815" y="173214"/>
            <a:ext cx="2295079" cy="381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2"/>
              </a:lnSpc>
            </a:pPr>
            <a:r>
              <a:rPr lang="en-US" sz="2230" b="true">
                <a:solidFill>
                  <a:srgbClr val="1D5EA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03 - D</a:t>
            </a:r>
            <a:r>
              <a:rPr lang="en-US" sz="2230" b="true">
                <a:solidFill>
                  <a:srgbClr val="1D5EA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ata quality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8073" y="856955"/>
            <a:ext cx="10815144" cy="66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5"/>
              </a:lnSpc>
            </a:pPr>
            <a:r>
              <a:rPr lang="en-US" sz="3882" b="true">
                <a:solidFill>
                  <a:srgbClr val="00357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38 data tests a quality story.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65661" y="2543479"/>
            <a:ext cx="1047797" cy="1063721"/>
            <a:chOff x="0" y="0"/>
            <a:chExt cx="275963" cy="2801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5963" cy="280157"/>
            </a:xfrm>
            <a:custGeom>
              <a:avLst/>
              <a:gdLst/>
              <a:ahLst/>
              <a:cxnLst/>
              <a:rect r="r" b="b" t="t" l="l"/>
              <a:pathLst>
                <a:path h="280157" w="275963">
                  <a:moveTo>
                    <a:pt x="125609" y="0"/>
                  </a:moveTo>
                  <a:lnTo>
                    <a:pt x="150354" y="0"/>
                  </a:lnTo>
                  <a:cubicBezTo>
                    <a:pt x="183668" y="0"/>
                    <a:pt x="215617" y="13234"/>
                    <a:pt x="239173" y="36790"/>
                  </a:cubicBezTo>
                  <a:cubicBezTo>
                    <a:pt x="262729" y="60346"/>
                    <a:pt x="275963" y="92295"/>
                    <a:pt x="275963" y="125609"/>
                  </a:cubicBezTo>
                  <a:lnTo>
                    <a:pt x="275963" y="154548"/>
                  </a:lnTo>
                  <a:cubicBezTo>
                    <a:pt x="275963" y="223920"/>
                    <a:pt x="219726" y="280157"/>
                    <a:pt x="150354" y="280157"/>
                  </a:cubicBezTo>
                  <a:lnTo>
                    <a:pt x="125609" y="280157"/>
                  </a:lnTo>
                  <a:cubicBezTo>
                    <a:pt x="56237" y="280157"/>
                    <a:pt x="0" y="223920"/>
                    <a:pt x="0" y="154548"/>
                  </a:cubicBezTo>
                  <a:lnTo>
                    <a:pt x="0" y="125609"/>
                  </a:lnTo>
                  <a:cubicBezTo>
                    <a:pt x="0" y="56237"/>
                    <a:pt x="56237" y="0"/>
                    <a:pt x="125609" y="0"/>
                  </a:cubicBezTo>
                  <a:close/>
                </a:path>
              </a:pathLst>
            </a:custGeom>
            <a:solidFill>
              <a:srgbClr val="00357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275963" cy="3658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32"/>
                </a:lnSpc>
              </a:pPr>
              <a:r>
                <a:rPr lang="en-US" b="true" sz="3808">
                  <a:solidFill>
                    <a:srgbClr val="F4F5F8"/>
                  </a:solidFill>
                  <a:latin typeface="Petrona Bold"/>
                  <a:ea typeface="Petrona Bold"/>
                  <a:cs typeface="Petrona Bold"/>
                  <a:sym typeface="Petrona Bold"/>
                </a:rPr>
                <a:t>1:1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91653" y="2924479"/>
            <a:ext cx="1047797" cy="1063721"/>
            <a:chOff x="0" y="0"/>
            <a:chExt cx="275963" cy="28015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5963" cy="280157"/>
            </a:xfrm>
            <a:custGeom>
              <a:avLst/>
              <a:gdLst/>
              <a:ahLst/>
              <a:cxnLst/>
              <a:rect r="r" b="b" t="t" l="l"/>
              <a:pathLst>
                <a:path h="280157" w="275963">
                  <a:moveTo>
                    <a:pt x="125609" y="0"/>
                  </a:moveTo>
                  <a:lnTo>
                    <a:pt x="150354" y="0"/>
                  </a:lnTo>
                  <a:cubicBezTo>
                    <a:pt x="183668" y="0"/>
                    <a:pt x="215617" y="13234"/>
                    <a:pt x="239173" y="36790"/>
                  </a:cubicBezTo>
                  <a:cubicBezTo>
                    <a:pt x="262729" y="60346"/>
                    <a:pt x="275963" y="92295"/>
                    <a:pt x="275963" y="125609"/>
                  </a:cubicBezTo>
                  <a:lnTo>
                    <a:pt x="275963" y="154548"/>
                  </a:lnTo>
                  <a:cubicBezTo>
                    <a:pt x="275963" y="223920"/>
                    <a:pt x="219726" y="280157"/>
                    <a:pt x="150354" y="280157"/>
                  </a:cubicBezTo>
                  <a:lnTo>
                    <a:pt x="125609" y="280157"/>
                  </a:lnTo>
                  <a:cubicBezTo>
                    <a:pt x="56237" y="280157"/>
                    <a:pt x="0" y="223920"/>
                    <a:pt x="0" y="154548"/>
                  </a:cubicBezTo>
                  <a:lnTo>
                    <a:pt x="0" y="125609"/>
                  </a:lnTo>
                  <a:cubicBezTo>
                    <a:pt x="0" y="56237"/>
                    <a:pt x="56237" y="0"/>
                    <a:pt x="125609" y="0"/>
                  </a:cubicBezTo>
                  <a:close/>
                </a:path>
              </a:pathLst>
            </a:custGeom>
            <a:solidFill>
              <a:srgbClr val="00357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275963" cy="356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192"/>
                </a:lnSpc>
              </a:pPr>
              <a:r>
                <a:rPr lang="en-US" b="true" sz="3708">
                  <a:solidFill>
                    <a:srgbClr val="F4F5F8"/>
                  </a:solidFill>
                  <a:latin typeface="Petrona Bold"/>
                  <a:ea typeface="Petrona Bold"/>
                  <a:cs typeface="Petrona Bold"/>
                  <a:sym typeface="Petrona Bold"/>
                </a:rPr>
                <a:t>R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65661" y="5466698"/>
            <a:ext cx="1047797" cy="1063721"/>
            <a:chOff x="0" y="0"/>
            <a:chExt cx="275963" cy="28015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5963" cy="280157"/>
            </a:xfrm>
            <a:custGeom>
              <a:avLst/>
              <a:gdLst/>
              <a:ahLst/>
              <a:cxnLst/>
              <a:rect r="r" b="b" t="t" l="l"/>
              <a:pathLst>
                <a:path h="280157" w="275963">
                  <a:moveTo>
                    <a:pt x="125609" y="0"/>
                  </a:moveTo>
                  <a:lnTo>
                    <a:pt x="150354" y="0"/>
                  </a:lnTo>
                  <a:cubicBezTo>
                    <a:pt x="183668" y="0"/>
                    <a:pt x="215617" y="13234"/>
                    <a:pt x="239173" y="36790"/>
                  </a:cubicBezTo>
                  <a:cubicBezTo>
                    <a:pt x="262729" y="60346"/>
                    <a:pt x="275963" y="92295"/>
                    <a:pt x="275963" y="125609"/>
                  </a:cubicBezTo>
                  <a:lnTo>
                    <a:pt x="275963" y="154548"/>
                  </a:lnTo>
                  <a:cubicBezTo>
                    <a:pt x="275963" y="223920"/>
                    <a:pt x="219726" y="280157"/>
                    <a:pt x="150354" y="280157"/>
                  </a:cubicBezTo>
                  <a:lnTo>
                    <a:pt x="125609" y="280157"/>
                  </a:lnTo>
                  <a:cubicBezTo>
                    <a:pt x="56237" y="280157"/>
                    <a:pt x="0" y="223920"/>
                    <a:pt x="0" y="154548"/>
                  </a:cubicBezTo>
                  <a:lnTo>
                    <a:pt x="0" y="125609"/>
                  </a:lnTo>
                  <a:cubicBezTo>
                    <a:pt x="0" y="56237"/>
                    <a:pt x="56237" y="0"/>
                    <a:pt x="125609" y="0"/>
                  </a:cubicBezTo>
                  <a:close/>
                </a:path>
              </a:pathLst>
            </a:custGeom>
            <a:solidFill>
              <a:srgbClr val="00357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275963" cy="3468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72"/>
                </a:lnSpc>
              </a:pPr>
              <a:r>
                <a:rPr lang="en-US" b="true" sz="3408">
                  <a:solidFill>
                    <a:srgbClr val="F4F5F8"/>
                  </a:solidFill>
                  <a:latin typeface="Petrona Bold"/>
                  <a:ea typeface="Petrona Bold"/>
                  <a:cs typeface="Petrona Bold"/>
                  <a:sym typeface="Petrona Bold"/>
                </a:rPr>
                <a:t>✓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791653" y="5051921"/>
            <a:ext cx="1047797" cy="1063721"/>
            <a:chOff x="0" y="0"/>
            <a:chExt cx="275963" cy="28015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5963" cy="280157"/>
            </a:xfrm>
            <a:custGeom>
              <a:avLst/>
              <a:gdLst/>
              <a:ahLst/>
              <a:cxnLst/>
              <a:rect r="r" b="b" t="t" l="l"/>
              <a:pathLst>
                <a:path h="280157" w="275963">
                  <a:moveTo>
                    <a:pt x="125609" y="0"/>
                  </a:moveTo>
                  <a:lnTo>
                    <a:pt x="150354" y="0"/>
                  </a:lnTo>
                  <a:cubicBezTo>
                    <a:pt x="183668" y="0"/>
                    <a:pt x="215617" y="13234"/>
                    <a:pt x="239173" y="36790"/>
                  </a:cubicBezTo>
                  <a:cubicBezTo>
                    <a:pt x="262729" y="60346"/>
                    <a:pt x="275963" y="92295"/>
                    <a:pt x="275963" y="125609"/>
                  </a:cubicBezTo>
                  <a:lnTo>
                    <a:pt x="275963" y="154548"/>
                  </a:lnTo>
                  <a:cubicBezTo>
                    <a:pt x="275963" y="223920"/>
                    <a:pt x="219726" y="280157"/>
                    <a:pt x="150354" y="280157"/>
                  </a:cubicBezTo>
                  <a:lnTo>
                    <a:pt x="125609" y="280157"/>
                  </a:lnTo>
                  <a:cubicBezTo>
                    <a:pt x="56237" y="280157"/>
                    <a:pt x="0" y="223920"/>
                    <a:pt x="0" y="154548"/>
                  </a:cubicBezTo>
                  <a:lnTo>
                    <a:pt x="0" y="125609"/>
                  </a:lnTo>
                  <a:cubicBezTo>
                    <a:pt x="0" y="56237"/>
                    <a:pt x="56237" y="0"/>
                    <a:pt x="125609" y="0"/>
                  </a:cubicBezTo>
                  <a:close/>
                </a:path>
              </a:pathLst>
            </a:custGeom>
            <a:solidFill>
              <a:srgbClr val="00357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275963" cy="337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52"/>
                </a:lnSpc>
              </a:pPr>
              <a:r>
                <a:rPr lang="en-US" b="true" sz="2608">
                  <a:solidFill>
                    <a:srgbClr val="F4F5F8"/>
                  </a:solidFill>
                  <a:latin typeface="Petrona Bold"/>
                  <a:ea typeface="Petrona Bold"/>
                  <a:cs typeface="Petrona Bold"/>
                  <a:sym typeface="Petrona Bold"/>
                </a:rPr>
                <a:t>true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891642" y="2505379"/>
            <a:ext cx="6252358" cy="1544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b="true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unique</a:t>
            </a:r>
          </a:p>
          <a:p>
            <a:pPr algn="l">
              <a:lnSpc>
                <a:spcPts val="3096"/>
              </a:lnSpc>
            </a:pPr>
            <a:r>
              <a:rPr lang="en-US" sz="2211" b="true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T</a:t>
            </a:r>
            <a:r>
              <a:rPr lang="en-US" sz="22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he test query selects for duplicates. Useful to avoid duplicates by id’s.</a:t>
            </a:r>
          </a:p>
          <a:p>
            <a:pPr algn="l">
              <a:lnSpc>
                <a:spcPts val="3096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2891642" y="5428598"/>
            <a:ext cx="6379752" cy="1544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b="true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 accepted values</a:t>
            </a:r>
          </a:p>
          <a:p>
            <a:pPr algn="l">
              <a:lnSpc>
                <a:spcPts val="3096"/>
              </a:lnSpc>
            </a:pPr>
            <a:r>
              <a:rPr lang="en-US" sz="22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A typo'd or new status silently breaks every downstream filter that expects a known set of values.</a:t>
            </a:r>
          </a:p>
          <a:p>
            <a:pPr algn="l">
              <a:lnSpc>
                <a:spcPts val="3096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1115675" y="2816141"/>
            <a:ext cx="6252358" cy="1544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b="true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relationships </a:t>
            </a:r>
          </a:p>
          <a:p>
            <a:pPr algn="l">
              <a:lnSpc>
                <a:spcPts val="3096"/>
              </a:lnSpc>
            </a:pPr>
            <a:r>
              <a:rPr lang="en-US" sz="22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An order with no matching customer means a broken join.</a:t>
            </a:r>
          </a:p>
          <a:p>
            <a:pPr algn="l">
              <a:lnSpc>
                <a:spcPts val="3096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1115675" y="4986400"/>
            <a:ext cx="6252358" cy="1544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b="true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 expression is true</a:t>
            </a:r>
          </a:p>
          <a:p>
            <a:pPr algn="l">
              <a:lnSpc>
                <a:spcPts val="3096"/>
              </a:lnSpc>
            </a:pPr>
            <a:r>
              <a:rPr lang="en-US" sz="22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A negative total is a business logic bug upstream. It's caught before it reaches a dashboard.</a:t>
            </a:r>
          </a:p>
          <a:p>
            <a:pPr algn="l">
              <a:lnSpc>
                <a:spcPts val="3096"/>
              </a:lnSpc>
            </a:pPr>
          </a:p>
        </p:txBody>
      </p:sp>
      <p:grpSp>
        <p:nvGrpSpPr>
          <p:cNvPr name="Group 22" id="22"/>
          <p:cNvGrpSpPr/>
          <p:nvPr/>
        </p:nvGrpSpPr>
        <p:grpSpPr>
          <a:xfrm rot="0">
            <a:off x="1565661" y="3988200"/>
            <a:ext cx="1047797" cy="1063721"/>
            <a:chOff x="0" y="0"/>
            <a:chExt cx="275963" cy="28015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75963" cy="280157"/>
            </a:xfrm>
            <a:custGeom>
              <a:avLst/>
              <a:gdLst/>
              <a:ahLst/>
              <a:cxnLst/>
              <a:rect r="r" b="b" t="t" l="l"/>
              <a:pathLst>
                <a:path h="280157" w="275963">
                  <a:moveTo>
                    <a:pt x="125609" y="0"/>
                  </a:moveTo>
                  <a:lnTo>
                    <a:pt x="150354" y="0"/>
                  </a:lnTo>
                  <a:cubicBezTo>
                    <a:pt x="183668" y="0"/>
                    <a:pt x="215617" y="13234"/>
                    <a:pt x="239173" y="36790"/>
                  </a:cubicBezTo>
                  <a:cubicBezTo>
                    <a:pt x="262729" y="60346"/>
                    <a:pt x="275963" y="92295"/>
                    <a:pt x="275963" y="125609"/>
                  </a:cubicBezTo>
                  <a:lnTo>
                    <a:pt x="275963" y="154548"/>
                  </a:lnTo>
                  <a:cubicBezTo>
                    <a:pt x="275963" y="223920"/>
                    <a:pt x="219726" y="280157"/>
                    <a:pt x="150354" y="280157"/>
                  </a:cubicBezTo>
                  <a:lnTo>
                    <a:pt x="125609" y="280157"/>
                  </a:lnTo>
                  <a:cubicBezTo>
                    <a:pt x="56237" y="280157"/>
                    <a:pt x="0" y="223920"/>
                    <a:pt x="0" y="154548"/>
                  </a:cubicBezTo>
                  <a:lnTo>
                    <a:pt x="0" y="125609"/>
                  </a:lnTo>
                  <a:cubicBezTo>
                    <a:pt x="0" y="56237"/>
                    <a:pt x="56237" y="0"/>
                    <a:pt x="125609" y="0"/>
                  </a:cubicBezTo>
                  <a:close/>
                </a:path>
              </a:pathLst>
            </a:custGeom>
            <a:solidFill>
              <a:srgbClr val="00357A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85725"/>
              <a:ext cx="275963" cy="3658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32"/>
                </a:lnSpc>
              </a:pPr>
              <a:r>
                <a:rPr lang="en-US" b="true" sz="3808">
                  <a:solidFill>
                    <a:srgbClr val="F4F5F8"/>
                  </a:solidFill>
                  <a:latin typeface="Petrona Bold"/>
                  <a:ea typeface="Petrona Bold"/>
                  <a:cs typeface="Petrona Bold"/>
                  <a:sym typeface="Petrona Bold"/>
                </a:rPr>
                <a:t>∅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2891642" y="3922679"/>
            <a:ext cx="6252358" cy="1544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b="true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not_null</a:t>
            </a:r>
          </a:p>
          <a:p>
            <a:pPr algn="l">
              <a:lnSpc>
                <a:spcPts val="3096"/>
              </a:lnSpc>
            </a:pPr>
            <a:r>
              <a:rPr lang="en-US" sz="2211" b="true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T</a:t>
            </a:r>
            <a:r>
              <a:rPr lang="en-US" sz="22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he test query selects for null values. Useful to avoid nulls in data during join.</a:t>
            </a:r>
          </a:p>
          <a:p>
            <a:pPr algn="l">
              <a:lnSpc>
                <a:spcPts val="3096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18668" y="9772535"/>
            <a:ext cx="5450664" cy="514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3"/>
              </a:lnSpc>
            </a:pPr>
            <a:r>
              <a:rPr lang="en-US" sz="1495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 </a:t>
            </a:r>
            <a:r>
              <a:rPr lang="en-US" sz="1495" u="sng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 tooltip="https://github.com/dbt-labs"/>
              </a:rPr>
              <a:t>dbt-labs</a:t>
            </a:r>
            <a:r>
              <a:rPr lang="en-US" sz="1495" u="sng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95" u="sng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 tooltip="https://github.com/dbt-labs/jaffle-shop-classic"/>
              </a:rPr>
              <a:t>jaffle-shop-classic</a:t>
            </a:r>
            <a:r>
              <a:rPr lang="en-US" sz="1495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95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Imported at 17.08.2026 09:50:00</a:t>
            </a:r>
          </a:p>
          <a:p>
            <a:pPr algn="l">
              <a:lnSpc>
                <a:spcPts val="2093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11470" y="220986"/>
            <a:ext cx="5386265" cy="381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2"/>
              </a:lnSpc>
            </a:pPr>
            <a:r>
              <a:rPr lang="en-US" sz="2230" b="true">
                <a:solidFill>
                  <a:srgbClr val="1D5EA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04 -  Snapshot</a:t>
            </a:r>
            <a:r>
              <a:rPr lang="en-US" b="true" sz="2230">
                <a:solidFill>
                  <a:srgbClr val="1D5EA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+ incremental model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8073" y="856955"/>
            <a:ext cx="11818371" cy="66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5"/>
              </a:lnSpc>
            </a:pPr>
            <a:r>
              <a:rPr lang="en-US" sz="3882" b="true">
                <a:solidFill>
                  <a:srgbClr val="00357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fct_orders: </a:t>
            </a:r>
            <a:r>
              <a:rPr lang="en-US" sz="3882" i="true" b="true">
                <a:solidFill>
                  <a:srgbClr val="00357A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incremental for one exact purpose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2528" y="1806095"/>
            <a:ext cx="15912191" cy="381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2"/>
              </a:lnSpc>
            </a:pPr>
            <a:r>
              <a:rPr lang="en-US" sz="2230" b="true">
                <a:solidFill>
                  <a:srgbClr val="1D5EA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reason: it's</a:t>
            </a:r>
            <a:r>
              <a:rPr lang="en-US" b="true" sz="2230">
                <a:solidFill>
                  <a:srgbClr val="1D5EA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the one table that grows unbounded. Full rebuilds get slower and costs more and more as it scales.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09647" y="2915533"/>
            <a:ext cx="7688207" cy="4869615"/>
            <a:chOff x="0" y="0"/>
            <a:chExt cx="2024878" cy="128253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24878" cy="1282532"/>
            </a:xfrm>
            <a:custGeom>
              <a:avLst/>
              <a:gdLst/>
              <a:ahLst/>
              <a:cxnLst/>
              <a:rect r="r" b="b" t="t" l="l"/>
              <a:pathLst>
                <a:path h="1282532" w="2024878">
                  <a:moveTo>
                    <a:pt x="17119" y="0"/>
                  </a:moveTo>
                  <a:lnTo>
                    <a:pt x="2007759" y="0"/>
                  </a:lnTo>
                  <a:cubicBezTo>
                    <a:pt x="2012299" y="0"/>
                    <a:pt x="2016653" y="1804"/>
                    <a:pt x="2019864" y="5014"/>
                  </a:cubicBezTo>
                  <a:cubicBezTo>
                    <a:pt x="2023074" y="8224"/>
                    <a:pt x="2024878" y="12579"/>
                    <a:pt x="2024878" y="17119"/>
                  </a:cubicBezTo>
                  <a:lnTo>
                    <a:pt x="2024878" y="1265414"/>
                  </a:lnTo>
                  <a:cubicBezTo>
                    <a:pt x="2024878" y="1274868"/>
                    <a:pt x="2017213" y="1282532"/>
                    <a:pt x="2007759" y="1282532"/>
                  </a:cubicBezTo>
                  <a:lnTo>
                    <a:pt x="17119" y="1282532"/>
                  </a:lnTo>
                  <a:cubicBezTo>
                    <a:pt x="7664" y="1282532"/>
                    <a:pt x="0" y="1274868"/>
                    <a:pt x="0" y="1265414"/>
                  </a:cubicBezTo>
                  <a:lnTo>
                    <a:pt x="0" y="17119"/>
                  </a:lnTo>
                  <a:cubicBezTo>
                    <a:pt x="0" y="7664"/>
                    <a:pt x="7664" y="0"/>
                    <a:pt x="17119" y="0"/>
                  </a:cubicBezTo>
                  <a:close/>
                </a:path>
              </a:pathLst>
            </a:custGeom>
            <a:solidFill>
              <a:srgbClr val="1F2D4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24878" cy="1320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093"/>
                </a:lnSpc>
              </a:pPr>
            </a:p>
            <a:p>
              <a:pPr algn="l">
                <a:lnSpc>
                  <a:spcPts val="2093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146546" y="3397274"/>
            <a:ext cx="7122078" cy="3511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199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{{ config( materialize</a:t>
            </a:r>
            <a:r>
              <a:rPr lang="en-US" sz="199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d=</a:t>
            </a:r>
            <a:r>
              <a:rPr lang="en-US" sz="1994">
                <a:solidFill>
                  <a:srgbClr val="00BF63"/>
                </a:solidFill>
                <a:latin typeface="Canva Sans"/>
                <a:ea typeface="Canva Sans"/>
                <a:cs typeface="Canva Sans"/>
                <a:sym typeface="Canva Sans"/>
              </a:rPr>
              <a:t>'incremental'</a:t>
            </a:r>
            <a:r>
              <a:rPr lang="en-US" sz="199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</a:p>
          <a:p>
            <a:pPr algn="l">
              <a:lnSpc>
                <a:spcPts val="2792"/>
              </a:lnSpc>
            </a:pPr>
            <a:r>
              <a:rPr lang="en-US" sz="199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unique_key=</a:t>
            </a:r>
            <a:r>
              <a:rPr lang="en-US" sz="1994">
                <a:solidFill>
                  <a:srgbClr val="00BF63"/>
                </a:solidFill>
                <a:latin typeface="Canva Sans"/>
                <a:ea typeface="Canva Sans"/>
                <a:cs typeface="Canva Sans"/>
                <a:sym typeface="Canva Sans"/>
              </a:rPr>
              <a:t>'order_id</a:t>
            </a:r>
            <a:r>
              <a:rPr lang="en-US" sz="199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' ) }}</a:t>
            </a:r>
          </a:p>
          <a:p>
            <a:pPr algn="l">
              <a:lnSpc>
                <a:spcPts val="2792"/>
              </a:lnSpc>
            </a:pPr>
          </a:p>
          <a:p>
            <a:pPr algn="l">
              <a:lnSpc>
                <a:spcPts val="2792"/>
              </a:lnSpc>
            </a:pPr>
            <a:r>
              <a:rPr lang="en-US" sz="1994">
                <a:solidFill>
                  <a:srgbClr val="CB6CE6"/>
                </a:solidFill>
                <a:latin typeface="Canva Sans"/>
                <a:ea typeface="Canva Sans"/>
                <a:cs typeface="Canva Sans"/>
                <a:sym typeface="Canva Sans"/>
              </a:rPr>
              <a:t>select </a:t>
            </a:r>
            <a:r>
              <a:rPr lang="en-US" sz="199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... </a:t>
            </a:r>
            <a:r>
              <a:rPr lang="en-US" sz="1994">
                <a:solidFill>
                  <a:srgbClr val="CB6CE6"/>
                </a:solidFill>
                <a:latin typeface="Canva Sans"/>
                <a:ea typeface="Canva Sans"/>
                <a:cs typeface="Canva Sans"/>
                <a:sym typeface="Canva Sans"/>
              </a:rPr>
              <a:t>from</a:t>
            </a:r>
            <a:r>
              <a:rPr lang="en-US" sz="199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{{ ref(</a:t>
            </a:r>
            <a:r>
              <a:rPr lang="en-US" sz="1994">
                <a:solidFill>
                  <a:srgbClr val="00BF63"/>
                </a:solidFill>
                <a:latin typeface="Canva Sans"/>
                <a:ea typeface="Canva Sans"/>
                <a:cs typeface="Canva Sans"/>
                <a:sym typeface="Canva Sans"/>
              </a:rPr>
              <a:t>'int_orders_joined'</a:t>
            </a:r>
            <a:r>
              <a:rPr lang="en-US" sz="199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) }}</a:t>
            </a:r>
          </a:p>
          <a:p>
            <a:pPr algn="l">
              <a:lnSpc>
                <a:spcPts val="2792"/>
              </a:lnSpc>
            </a:pPr>
            <a:r>
              <a:rPr lang="en-US" sz="199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>
              <a:lnSpc>
                <a:spcPts val="2792"/>
              </a:lnSpc>
            </a:pPr>
          </a:p>
          <a:p>
            <a:pPr algn="l">
              <a:lnSpc>
                <a:spcPts val="2792"/>
              </a:lnSpc>
            </a:pPr>
            <a:r>
              <a:rPr lang="en-US" sz="199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{% </a:t>
            </a:r>
            <a:r>
              <a:rPr lang="en-US" sz="1994">
                <a:solidFill>
                  <a:srgbClr val="CB6CE6"/>
                </a:solidFill>
                <a:latin typeface="Canva Sans"/>
                <a:ea typeface="Canva Sans"/>
                <a:cs typeface="Canva Sans"/>
                <a:sym typeface="Canva Sans"/>
              </a:rPr>
              <a:t>if </a:t>
            </a:r>
            <a:r>
              <a:rPr lang="en-US" sz="199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is_incremental() %}</a:t>
            </a:r>
          </a:p>
          <a:p>
            <a:pPr algn="l">
              <a:lnSpc>
                <a:spcPts val="2792"/>
              </a:lnSpc>
            </a:pPr>
            <a:r>
              <a:rPr lang="en-US" sz="1994">
                <a:solidFill>
                  <a:srgbClr val="CB6CE6"/>
                </a:solidFill>
                <a:latin typeface="Canva Sans"/>
                <a:ea typeface="Canva Sans"/>
                <a:cs typeface="Canva Sans"/>
                <a:sym typeface="Canva Sans"/>
              </a:rPr>
              <a:t>where</a:t>
            </a:r>
            <a:r>
              <a:rPr lang="en-US" sz="199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order_date &gt; (</a:t>
            </a:r>
            <a:r>
              <a:rPr lang="en-US" sz="1994">
                <a:solidFill>
                  <a:srgbClr val="CB6CE6"/>
                </a:solidFill>
                <a:latin typeface="Canva Sans"/>
                <a:ea typeface="Canva Sans"/>
                <a:cs typeface="Canva Sans"/>
                <a:sym typeface="Canva Sans"/>
              </a:rPr>
              <a:t>select</a:t>
            </a:r>
            <a:r>
              <a:rPr lang="en-US" sz="199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994">
                <a:solidFill>
                  <a:srgbClr val="6BAFD6"/>
                </a:solidFill>
                <a:latin typeface="Canva Sans"/>
                <a:ea typeface="Canva Sans"/>
                <a:cs typeface="Canva Sans"/>
                <a:sym typeface="Canva Sans"/>
              </a:rPr>
              <a:t>max</a:t>
            </a:r>
            <a:r>
              <a:rPr lang="en-US" sz="199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(order_date)</a:t>
            </a:r>
            <a:r>
              <a:rPr lang="en-US" sz="1994">
                <a:solidFill>
                  <a:srgbClr val="CB6CE6"/>
                </a:solidFill>
                <a:latin typeface="Canva Sans"/>
                <a:ea typeface="Canva Sans"/>
                <a:cs typeface="Canva Sans"/>
                <a:sym typeface="Canva Sans"/>
              </a:rPr>
              <a:t> from</a:t>
            </a:r>
            <a:r>
              <a:rPr lang="en-US" sz="199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{{ this }})</a:t>
            </a:r>
          </a:p>
          <a:p>
            <a:pPr algn="l">
              <a:lnSpc>
                <a:spcPts val="2792"/>
              </a:lnSpc>
            </a:pPr>
            <a:r>
              <a:rPr lang="en-US" sz="199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{% endif %}</a:t>
            </a:r>
          </a:p>
          <a:p>
            <a:pPr algn="l">
              <a:lnSpc>
                <a:spcPts val="2792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8858965" y="2915533"/>
            <a:ext cx="7863373" cy="1842276"/>
            <a:chOff x="0" y="0"/>
            <a:chExt cx="2071012" cy="48520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71012" cy="485209"/>
            </a:xfrm>
            <a:custGeom>
              <a:avLst/>
              <a:gdLst/>
              <a:ahLst/>
              <a:cxnLst/>
              <a:rect r="r" b="b" t="t" l="l"/>
              <a:pathLst>
                <a:path h="485209" w="2071012">
                  <a:moveTo>
                    <a:pt x="16737" y="0"/>
                  </a:moveTo>
                  <a:lnTo>
                    <a:pt x="2054275" y="0"/>
                  </a:lnTo>
                  <a:cubicBezTo>
                    <a:pt x="2058714" y="0"/>
                    <a:pt x="2062971" y="1763"/>
                    <a:pt x="2066110" y="4902"/>
                  </a:cubicBezTo>
                  <a:cubicBezTo>
                    <a:pt x="2069249" y="8041"/>
                    <a:pt x="2071012" y="12298"/>
                    <a:pt x="2071012" y="16737"/>
                  </a:cubicBezTo>
                  <a:lnTo>
                    <a:pt x="2071012" y="468471"/>
                  </a:lnTo>
                  <a:cubicBezTo>
                    <a:pt x="2071012" y="472910"/>
                    <a:pt x="2069249" y="477167"/>
                    <a:pt x="2066110" y="480306"/>
                  </a:cubicBezTo>
                  <a:cubicBezTo>
                    <a:pt x="2062971" y="483445"/>
                    <a:pt x="2058714" y="485209"/>
                    <a:pt x="2054275" y="485209"/>
                  </a:cubicBezTo>
                  <a:lnTo>
                    <a:pt x="16737" y="485209"/>
                  </a:lnTo>
                  <a:cubicBezTo>
                    <a:pt x="12298" y="485209"/>
                    <a:pt x="8041" y="483445"/>
                    <a:pt x="4902" y="480306"/>
                  </a:cubicBezTo>
                  <a:cubicBezTo>
                    <a:pt x="1763" y="477167"/>
                    <a:pt x="0" y="472910"/>
                    <a:pt x="0" y="468471"/>
                  </a:cubicBezTo>
                  <a:lnTo>
                    <a:pt x="0" y="16737"/>
                  </a:lnTo>
                  <a:cubicBezTo>
                    <a:pt x="0" y="12298"/>
                    <a:pt x="1763" y="8041"/>
                    <a:pt x="4902" y="4902"/>
                  </a:cubicBezTo>
                  <a:cubicBezTo>
                    <a:pt x="8041" y="1763"/>
                    <a:pt x="12298" y="0"/>
                    <a:pt x="16737" y="0"/>
                  </a:cubicBezTo>
                  <a:close/>
                </a:path>
              </a:pathLst>
            </a:custGeom>
            <a:solidFill>
              <a:srgbClr val="E8EBF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071012" cy="523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93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858965" y="5350340"/>
            <a:ext cx="7863373" cy="2434808"/>
            <a:chOff x="0" y="0"/>
            <a:chExt cx="2071012" cy="64126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71012" cy="641266"/>
            </a:xfrm>
            <a:custGeom>
              <a:avLst/>
              <a:gdLst/>
              <a:ahLst/>
              <a:cxnLst/>
              <a:rect r="r" b="b" t="t" l="l"/>
              <a:pathLst>
                <a:path h="641266" w="2071012">
                  <a:moveTo>
                    <a:pt x="16737" y="0"/>
                  </a:moveTo>
                  <a:lnTo>
                    <a:pt x="2054275" y="0"/>
                  </a:lnTo>
                  <a:cubicBezTo>
                    <a:pt x="2058714" y="0"/>
                    <a:pt x="2062971" y="1763"/>
                    <a:pt x="2066110" y="4902"/>
                  </a:cubicBezTo>
                  <a:cubicBezTo>
                    <a:pt x="2069249" y="8041"/>
                    <a:pt x="2071012" y="12298"/>
                    <a:pt x="2071012" y="16737"/>
                  </a:cubicBezTo>
                  <a:lnTo>
                    <a:pt x="2071012" y="624529"/>
                  </a:lnTo>
                  <a:cubicBezTo>
                    <a:pt x="2071012" y="628968"/>
                    <a:pt x="2069249" y="633225"/>
                    <a:pt x="2066110" y="636364"/>
                  </a:cubicBezTo>
                  <a:cubicBezTo>
                    <a:pt x="2062971" y="639503"/>
                    <a:pt x="2058714" y="641266"/>
                    <a:pt x="2054275" y="641266"/>
                  </a:cubicBezTo>
                  <a:lnTo>
                    <a:pt x="16737" y="641266"/>
                  </a:lnTo>
                  <a:cubicBezTo>
                    <a:pt x="12298" y="641266"/>
                    <a:pt x="8041" y="639503"/>
                    <a:pt x="4902" y="636364"/>
                  </a:cubicBezTo>
                  <a:cubicBezTo>
                    <a:pt x="1763" y="633225"/>
                    <a:pt x="0" y="628968"/>
                    <a:pt x="0" y="624529"/>
                  </a:cubicBezTo>
                  <a:lnTo>
                    <a:pt x="0" y="16737"/>
                  </a:lnTo>
                  <a:cubicBezTo>
                    <a:pt x="0" y="12298"/>
                    <a:pt x="1763" y="8041"/>
                    <a:pt x="4902" y="4902"/>
                  </a:cubicBezTo>
                  <a:cubicBezTo>
                    <a:pt x="8041" y="1763"/>
                    <a:pt x="12298" y="0"/>
                    <a:pt x="16737" y="0"/>
                  </a:cubicBezTo>
                  <a:close/>
                </a:path>
              </a:pathLst>
            </a:custGeom>
            <a:solidFill>
              <a:srgbClr val="E8EBF1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071012" cy="6793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93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018785" y="3036017"/>
            <a:ext cx="7543734" cy="1773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8"/>
              </a:lnSpc>
            </a:pPr>
            <a:r>
              <a:rPr lang="en-US" sz="2534" b="true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First run</a:t>
            </a:r>
          </a:p>
          <a:p>
            <a:pPr algn="l">
              <a:lnSpc>
                <a:spcPts val="3548"/>
              </a:lnSpc>
            </a:pPr>
          </a:p>
          <a:p>
            <a:pPr algn="l">
              <a:lnSpc>
                <a:spcPts val="3548"/>
              </a:lnSpc>
            </a:pPr>
            <a:r>
              <a:rPr lang="en-US" sz="2534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is_incremental() = false → full table builds (101 rows)</a:t>
            </a:r>
          </a:p>
          <a:p>
            <a:pPr algn="l">
              <a:lnSpc>
                <a:spcPts val="3548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9018785" y="5433125"/>
            <a:ext cx="7703554" cy="266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8"/>
              </a:lnSpc>
            </a:pPr>
            <a:r>
              <a:rPr lang="en-US" sz="2534" b="true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Every run after</a:t>
            </a:r>
          </a:p>
          <a:p>
            <a:pPr algn="l">
              <a:lnSpc>
                <a:spcPts val="3548"/>
              </a:lnSpc>
            </a:pPr>
          </a:p>
          <a:p>
            <a:pPr algn="l">
              <a:lnSpc>
                <a:spcPts val="3548"/>
              </a:lnSpc>
            </a:pPr>
            <a:r>
              <a:rPr lang="en-US" sz="2534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Add only rows newer than max(order_date) get merged.</a:t>
            </a:r>
          </a:p>
          <a:p>
            <a:pPr algn="l">
              <a:lnSpc>
                <a:spcPts val="3548"/>
              </a:lnSpc>
            </a:pPr>
            <a:r>
              <a:rPr lang="en-US" sz="2534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 that means adding 2 test rows produced "SUCCESS 2," not a full rebuild.</a:t>
            </a:r>
          </a:p>
          <a:p>
            <a:pPr algn="l">
              <a:lnSpc>
                <a:spcPts val="3548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55822"/>
          </a:xfrm>
          <a:custGeom>
            <a:avLst/>
            <a:gdLst/>
            <a:ahLst/>
            <a:cxnLst/>
            <a:rect r="r" b="b" t="t" l="l"/>
            <a:pathLst>
              <a:path h="10255822" w="18288000">
                <a:moveTo>
                  <a:pt x="0" y="0"/>
                </a:moveTo>
                <a:lnTo>
                  <a:pt x="18288000" y="0"/>
                </a:lnTo>
                <a:lnTo>
                  <a:pt x="18288000" y="10255822"/>
                </a:lnTo>
                <a:lnTo>
                  <a:pt x="0" y="102558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18668" y="9772535"/>
            <a:ext cx="5450664" cy="514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3"/>
              </a:lnSpc>
            </a:pPr>
            <a:r>
              <a:rPr lang="en-US" sz="1495">
                <a:solidFill>
                  <a:srgbClr val="F4F5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 </a:t>
            </a:r>
            <a:r>
              <a:rPr lang="en-US" sz="1495" u="sng">
                <a:solidFill>
                  <a:srgbClr val="F4F5F8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 tooltip="https://github.com/dbt-labs"/>
              </a:rPr>
              <a:t>dbt-labs</a:t>
            </a:r>
            <a:r>
              <a:rPr lang="en-US" sz="1495" u="sng">
                <a:solidFill>
                  <a:srgbClr val="F4F5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95" u="sng">
                <a:solidFill>
                  <a:srgbClr val="F4F5F8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 tooltip="https://github.com/dbt-labs/jaffle-shop-classic"/>
              </a:rPr>
              <a:t>jaffle-shop-classic</a:t>
            </a:r>
            <a:r>
              <a:rPr lang="en-US" sz="1495">
                <a:solidFill>
                  <a:srgbClr val="F4F5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95">
                <a:solidFill>
                  <a:srgbClr val="F4F5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Imported at 17.08.2026 09:50:00</a:t>
            </a:r>
          </a:p>
          <a:p>
            <a:pPr algn="l">
              <a:lnSpc>
                <a:spcPts val="2093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11470" y="220986"/>
            <a:ext cx="5386265" cy="381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2"/>
              </a:lnSpc>
            </a:pPr>
            <a:r>
              <a:rPr lang="en-US" b="true" sz="2230">
                <a:solidFill>
                  <a:srgbClr val="F4F5F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04 -  Snapshot</a:t>
            </a:r>
            <a:r>
              <a:rPr lang="en-US" b="true" sz="2230">
                <a:solidFill>
                  <a:srgbClr val="F4F5F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+ incremental model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21899" y="962055"/>
            <a:ext cx="11993538" cy="66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5"/>
              </a:lnSpc>
            </a:pPr>
            <a:r>
              <a:rPr lang="en-US" sz="3882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Snapshots: SCD Type 2 in one dbt command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5142" y="2013584"/>
            <a:ext cx="12599948" cy="381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2"/>
              </a:lnSpc>
            </a:pPr>
            <a:r>
              <a:rPr lang="en-US" sz="2230" b="true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product_prices_snapshot</a:t>
            </a:r>
            <a:r>
              <a:rPr lang="en-US" b="true" sz="2230" i="true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</a:t>
            </a:r>
            <a:r>
              <a:rPr lang="en-US" sz="2230" i="true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Canva Sans Italics"/>
                <a:ea typeface="Canva Sans Italics"/>
                <a:cs typeface="Canva Sans Italics"/>
                <a:sym typeface="Canva Sans Italics"/>
              </a:rPr>
              <a:t>compares source data to the last snapshot on every run.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65142" y="2506558"/>
            <a:ext cx="16494158" cy="4284338"/>
          </a:xfrm>
          <a:custGeom>
            <a:avLst/>
            <a:gdLst/>
            <a:ahLst/>
            <a:cxnLst/>
            <a:rect r="r" b="b" t="t" l="l"/>
            <a:pathLst>
              <a:path h="4284338" w="16494158">
                <a:moveTo>
                  <a:pt x="0" y="0"/>
                </a:moveTo>
                <a:lnTo>
                  <a:pt x="16494158" y="0"/>
                </a:lnTo>
                <a:lnTo>
                  <a:pt x="16494158" y="4284338"/>
                </a:lnTo>
                <a:lnTo>
                  <a:pt x="0" y="42843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65142" y="7111730"/>
            <a:ext cx="8008215" cy="2146570"/>
            <a:chOff x="0" y="0"/>
            <a:chExt cx="2109160" cy="5653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9160" cy="565352"/>
            </a:xfrm>
            <a:custGeom>
              <a:avLst/>
              <a:gdLst/>
              <a:ahLst/>
              <a:cxnLst/>
              <a:rect r="r" b="b" t="t" l="l"/>
              <a:pathLst>
                <a:path h="565352" w="2109160">
                  <a:moveTo>
                    <a:pt x="16435" y="0"/>
                  </a:moveTo>
                  <a:lnTo>
                    <a:pt x="2092725" y="0"/>
                  </a:lnTo>
                  <a:cubicBezTo>
                    <a:pt x="2101802" y="0"/>
                    <a:pt x="2109160" y="7358"/>
                    <a:pt x="2109160" y="16435"/>
                  </a:cubicBezTo>
                  <a:lnTo>
                    <a:pt x="2109160" y="548917"/>
                  </a:lnTo>
                  <a:cubicBezTo>
                    <a:pt x="2109160" y="553276"/>
                    <a:pt x="2107428" y="557456"/>
                    <a:pt x="2104346" y="560538"/>
                  </a:cubicBezTo>
                  <a:cubicBezTo>
                    <a:pt x="2101264" y="563620"/>
                    <a:pt x="2097084" y="565352"/>
                    <a:pt x="2092725" y="565352"/>
                  </a:cubicBezTo>
                  <a:lnTo>
                    <a:pt x="16435" y="565352"/>
                  </a:lnTo>
                  <a:cubicBezTo>
                    <a:pt x="12076" y="565352"/>
                    <a:pt x="7896" y="563620"/>
                    <a:pt x="4814" y="560538"/>
                  </a:cubicBezTo>
                  <a:cubicBezTo>
                    <a:pt x="1732" y="557456"/>
                    <a:pt x="0" y="553276"/>
                    <a:pt x="0" y="548917"/>
                  </a:cubicBezTo>
                  <a:lnTo>
                    <a:pt x="0" y="16435"/>
                  </a:lnTo>
                  <a:cubicBezTo>
                    <a:pt x="0" y="12076"/>
                    <a:pt x="1732" y="7896"/>
                    <a:pt x="4814" y="4814"/>
                  </a:cubicBezTo>
                  <a:cubicBezTo>
                    <a:pt x="7896" y="1732"/>
                    <a:pt x="12076" y="0"/>
                    <a:pt x="16435" y="0"/>
                  </a:cubicBezTo>
                  <a:close/>
                </a:path>
              </a:pathLst>
            </a:custGeom>
            <a:solidFill>
              <a:srgbClr val="1D5EA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09160" cy="603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9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0" y="7111730"/>
            <a:ext cx="8115300" cy="2146570"/>
            <a:chOff x="0" y="0"/>
            <a:chExt cx="2137363" cy="5653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37363" cy="565352"/>
            </a:xfrm>
            <a:custGeom>
              <a:avLst/>
              <a:gdLst/>
              <a:ahLst/>
              <a:cxnLst/>
              <a:rect r="r" b="b" t="t" l="l"/>
              <a:pathLst>
                <a:path h="565352" w="2137363">
                  <a:moveTo>
                    <a:pt x="16218" y="0"/>
                  </a:moveTo>
                  <a:lnTo>
                    <a:pt x="2121145" y="0"/>
                  </a:lnTo>
                  <a:cubicBezTo>
                    <a:pt x="2130102" y="0"/>
                    <a:pt x="2137363" y="7261"/>
                    <a:pt x="2137363" y="16218"/>
                  </a:cubicBezTo>
                  <a:lnTo>
                    <a:pt x="2137363" y="549134"/>
                  </a:lnTo>
                  <a:cubicBezTo>
                    <a:pt x="2137363" y="558091"/>
                    <a:pt x="2130102" y="565352"/>
                    <a:pt x="2121145" y="565352"/>
                  </a:cubicBezTo>
                  <a:lnTo>
                    <a:pt x="16218" y="565352"/>
                  </a:lnTo>
                  <a:cubicBezTo>
                    <a:pt x="7261" y="565352"/>
                    <a:pt x="0" y="558091"/>
                    <a:pt x="0" y="549134"/>
                  </a:cubicBezTo>
                  <a:lnTo>
                    <a:pt x="0" y="16218"/>
                  </a:lnTo>
                  <a:cubicBezTo>
                    <a:pt x="0" y="7261"/>
                    <a:pt x="7261" y="0"/>
                    <a:pt x="16218" y="0"/>
                  </a:cubicBezTo>
                  <a:close/>
                </a:path>
              </a:pathLst>
            </a:custGeom>
            <a:solidFill>
              <a:srgbClr val="1D5EA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137363" cy="603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93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64389" y="7337844"/>
            <a:ext cx="7609720" cy="1887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1"/>
              </a:lnSpc>
            </a:pPr>
            <a:r>
              <a:rPr lang="en-US" sz="2179" b="true">
                <a:solidFill>
                  <a:srgbClr val="38B6FF"/>
                </a:solidFill>
                <a:latin typeface="Signika Bold"/>
                <a:ea typeface="Signika Bold"/>
                <a:cs typeface="Signika Bold"/>
                <a:sym typeface="Signika Bold"/>
              </a:rPr>
              <a:t>What do dbt_valid_from &amp; dbt_valid_to mean?</a:t>
            </a:r>
          </a:p>
          <a:p>
            <a:pPr algn="l">
              <a:lnSpc>
                <a:spcPts val="3051"/>
              </a:lnSpc>
            </a:pPr>
          </a:p>
          <a:p>
            <a:pPr algn="l">
              <a:lnSpc>
                <a:spcPts val="3051"/>
              </a:lnSpc>
            </a:pPr>
            <a:r>
              <a:rPr lang="en-US" sz="2179">
                <a:solidFill>
                  <a:srgbClr val="FFFFFF"/>
                </a:solidFill>
                <a:latin typeface="Signika"/>
                <a:ea typeface="Signika"/>
                <a:cs typeface="Signika"/>
                <a:sym typeface="Signika"/>
              </a:rPr>
              <a:t>The time window this row was the "current truth." NULL to = still current.</a:t>
            </a:r>
          </a:p>
          <a:p>
            <a:pPr algn="l">
              <a:lnSpc>
                <a:spcPts val="3051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9396790" y="7295721"/>
            <a:ext cx="7609720" cy="1887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1"/>
              </a:lnSpc>
            </a:pPr>
            <a:r>
              <a:rPr lang="en-US" sz="2179" b="true">
                <a:solidFill>
                  <a:srgbClr val="38B6FF"/>
                </a:solidFill>
                <a:latin typeface="Signika Bold"/>
                <a:ea typeface="Signika Bold"/>
                <a:cs typeface="Signika Bold"/>
                <a:sym typeface="Signika Bold"/>
              </a:rPr>
              <a:t>Nothing changed in source. What happens on dbt snapshot?</a:t>
            </a:r>
          </a:p>
          <a:p>
            <a:pPr algn="l">
              <a:lnSpc>
                <a:spcPts val="3051"/>
              </a:lnSpc>
            </a:pPr>
          </a:p>
          <a:p>
            <a:pPr algn="l">
              <a:lnSpc>
                <a:spcPts val="3051"/>
              </a:lnSpc>
            </a:pPr>
            <a:r>
              <a:rPr lang="en-US" sz="2179">
                <a:solidFill>
                  <a:srgbClr val="FFFFFF"/>
                </a:solidFill>
                <a:latin typeface="Signika"/>
                <a:ea typeface="Signika"/>
                <a:cs typeface="Signika"/>
                <a:sym typeface="Signika"/>
              </a:rPr>
              <a:t>Nothing new is inserted. The existing valid row just stays valid after update.</a:t>
            </a:r>
          </a:p>
          <a:p>
            <a:pPr algn="l">
              <a:lnSpc>
                <a:spcPts val="3051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18668" y="9772535"/>
            <a:ext cx="5450664" cy="514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3"/>
              </a:lnSpc>
            </a:pPr>
            <a:r>
              <a:rPr lang="en-US" sz="1495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 </a:t>
            </a:r>
            <a:r>
              <a:rPr lang="en-US" sz="1495" u="sng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 tooltip="https://github.com/dbt-labs"/>
              </a:rPr>
              <a:t>dbt-labs</a:t>
            </a:r>
            <a:r>
              <a:rPr lang="en-US" sz="1495" u="sng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95" u="sng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 tooltip="https://github.com/dbt-labs/jaffle-shop-classic"/>
              </a:rPr>
              <a:t>jaffle-shop-classic</a:t>
            </a:r>
            <a:r>
              <a:rPr lang="en-US" sz="1495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95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Imported at 17.08.2026 09:50:00</a:t>
            </a:r>
          </a:p>
          <a:p>
            <a:pPr algn="l">
              <a:lnSpc>
                <a:spcPts val="2093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331486" y="173214"/>
            <a:ext cx="2971625" cy="381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2"/>
              </a:lnSpc>
            </a:pPr>
            <a:r>
              <a:rPr lang="en-US" sz="2230" b="true">
                <a:solidFill>
                  <a:srgbClr val="1D5EA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05 - What's next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8073" y="856955"/>
            <a:ext cx="10815144" cy="66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5"/>
              </a:lnSpc>
            </a:pPr>
            <a:r>
              <a:rPr lang="en-US" sz="3882" b="true">
                <a:solidFill>
                  <a:srgbClr val="00357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If I had another week...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89828" y="2057400"/>
            <a:ext cx="7863373" cy="2863161"/>
            <a:chOff x="0" y="0"/>
            <a:chExt cx="2071012" cy="7540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1012" cy="754083"/>
            </a:xfrm>
            <a:custGeom>
              <a:avLst/>
              <a:gdLst/>
              <a:ahLst/>
              <a:cxnLst/>
              <a:rect r="r" b="b" t="t" l="l"/>
              <a:pathLst>
                <a:path h="754083" w="2071012">
                  <a:moveTo>
                    <a:pt x="16737" y="0"/>
                  </a:moveTo>
                  <a:lnTo>
                    <a:pt x="2054275" y="0"/>
                  </a:lnTo>
                  <a:cubicBezTo>
                    <a:pt x="2058714" y="0"/>
                    <a:pt x="2062971" y="1763"/>
                    <a:pt x="2066110" y="4902"/>
                  </a:cubicBezTo>
                  <a:cubicBezTo>
                    <a:pt x="2069249" y="8041"/>
                    <a:pt x="2071012" y="12298"/>
                    <a:pt x="2071012" y="16737"/>
                  </a:cubicBezTo>
                  <a:lnTo>
                    <a:pt x="2071012" y="737346"/>
                  </a:lnTo>
                  <a:cubicBezTo>
                    <a:pt x="2071012" y="741785"/>
                    <a:pt x="2069249" y="746042"/>
                    <a:pt x="2066110" y="749181"/>
                  </a:cubicBezTo>
                  <a:cubicBezTo>
                    <a:pt x="2062971" y="752320"/>
                    <a:pt x="2058714" y="754083"/>
                    <a:pt x="2054275" y="754083"/>
                  </a:cubicBezTo>
                  <a:lnTo>
                    <a:pt x="16737" y="754083"/>
                  </a:lnTo>
                  <a:cubicBezTo>
                    <a:pt x="12298" y="754083"/>
                    <a:pt x="8041" y="752320"/>
                    <a:pt x="4902" y="749181"/>
                  </a:cubicBezTo>
                  <a:cubicBezTo>
                    <a:pt x="1763" y="746042"/>
                    <a:pt x="0" y="741785"/>
                    <a:pt x="0" y="737346"/>
                  </a:cubicBezTo>
                  <a:lnTo>
                    <a:pt x="0" y="16737"/>
                  </a:lnTo>
                  <a:cubicBezTo>
                    <a:pt x="0" y="12298"/>
                    <a:pt x="1763" y="8041"/>
                    <a:pt x="4902" y="4902"/>
                  </a:cubicBezTo>
                  <a:cubicBezTo>
                    <a:pt x="8041" y="1763"/>
                    <a:pt x="12298" y="0"/>
                    <a:pt x="16737" y="0"/>
                  </a:cubicBezTo>
                  <a:close/>
                </a:path>
              </a:pathLst>
            </a:custGeom>
            <a:solidFill>
              <a:srgbClr val="E8EBF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71012" cy="792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93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979517" y="2057400"/>
            <a:ext cx="7863373" cy="2863161"/>
            <a:chOff x="0" y="0"/>
            <a:chExt cx="2071012" cy="7540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71012" cy="754083"/>
            </a:xfrm>
            <a:custGeom>
              <a:avLst/>
              <a:gdLst/>
              <a:ahLst/>
              <a:cxnLst/>
              <a:rect r="r" b="b" t="t" l="l"/>
              <a:pathLst>
                <a:path h="754083" w="2071012">
                  <a:moveTo>
                    <a:pt x="16737" y="0"/>
                  </a:moveTo>
                  <a:lnTo>
                    <a:pt x="2054275" y="0"/>
                  </a:lnTo>
                  <a:cubicBezTo>
                    <a:pt x="2058714" y="0"/>
                    <a:pt x="2062971" y="1763"/>
                    <a:pt x="2066110" y="4902"/>
                  </a:cubicBezTo>
                  <a:cubicBezTo>
                    <a:pt x="2069249" y="8041"/>
                    <a:pt x="2071012" y="12298"/>
                    <a:pt x="2071012" y="16737"/>
                  </a:cubicBezTo>
                  <a:lnTo>
                    <a:pt x="2071012" y="737346"/>
                  </a:lnTo>
                  <a:cubicBezTo>
                    <a:pt x="2071012" y="741785"/>
                    <a:pt x="2069249" y="746042"/>
                    <a:pt x="2066110" y="749181"/>
                  </a:cubicBezTo>
                  <a:cubicBezTo>
                    <a:pt x="2062971" y="752320"/>
                    <a:pt x="2058714" y="754083"/>
                    <a:pt x="2054275" y="754083"/>
                  </a:cubicBezTo>
                  <a:lnTo>
                    <a:pt x="16737" y="754083"/>
                  </a:lnTo>
                  <a:cubicBezTo>
                    <a:pt x="12298" y="754083"/>
                    <a:pt x="8041" y="752320"/>
                    <a:pt x="4902" y="749181"/>
                  </a:cubicBezTo>
                  <a:cubicBezTo>
                    <a:pt x="1763" y="746042"/>
                    <a:pt x="0" y="741785"/>
                    <a:pt x="0" y="737346"/>
                  </a:cubicBezTo>
                  <a:lnTo>
                    <a:pt x="0" y="16737"/>
                  </a:lnTo>
                  <a:cubicBezTo>
                    <a:pt x="0" y="12298"/>
                    <a:pt x="1763" y="8041"/>
                    <a:pt x="4902" y="4902"/>
                  </a:cubicBezTo>
                  <a:cubicBezTo>
                    <a:pt x="8041" y="1763"/>
                    <a:pt x="12298" y="0"/>
                    <a:pt x="16737" y="0"/>
                  </a:cubicBezTo>
                  <a:close/>
                </a:path>
              </a:pathLst>
            </a:custGeom>
            <a:solidFill>
              <a:srgbClr val="E8EBF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71012" cy="792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93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89828" y="5301561"/>
            <a:ext cx="7863373" cy="2863161"/>
            <a:chOff x="0" y="0"/>
            <a:chExt cx="2071012" cy="75408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71012" cy="754083"/>
            </a:xfrm>
            <a:custGeom>
              <a:avLst/>
              <a:gdLst/>
              <a:ahLst/>
              <a:cxnLst/>
              <a:rect r="r" b="b" t="t" l="l"/>
              <a:pathLst>
                <a:path h="754083" w="2071012">
                  <a:moveTo>
                    <a:pt x="16737" y="0"/>
                  </a:moveTo>
                  <a:lnTo>
                    <a:pt x="2054275" y="0"/>
                  </a:lnTo>
                  <a:cubicBezTo>
                    <a:pt x="2058714" y="0"/>
                    <a:pt x="2062971" y="1763"/>
                    <a:pt x="2066110" y="4902"/>
                  </a:cubicBezTo>
                  <a:cubicBezTo>
                    <a:pt x="2069249" y="8041"/>
                    <a:pt x="2071012" y="12298"/>
                    <a:pt x="2071012" y="16737"/>
                  </a:cubicBezTo>
                  <a:lnTo>
                    <a:pt x="2071012" y="737346"/>
                  </a:lnTo>
                  <a:cubicBezTo>
                    <a:pt x="2071012" y="741785"/>
                    <a:pt x="2069249" y="746042"/>
                    <a:pt x="2066110" y="749181"/>
                  </a:cubicBezTo>
                  <a:cubicBezTo>
                    <a:pt x="2062971" y="752320"/>
                    <a:pt x="2058714" y="754083"/>
                    <a:pt x="2054275" y="754083"/>
                  </a:cubicBezTo>
                  <a:lnTo>
                    <a:pt x="16737" y="754083"/>
                  </a:lnTo>
                  <a:cubicBezTo>
                    <a:pt x="12298" y="754083"/>
                    <a:pt x="8041" y="752320"/>
                    <a:pt x="4902" y="749181"/>
                  </a:cubicBezTo>
                  <a:cubicBezTo>
                    <a:pt x="1763" y="746042"/>
                    <a:pt x="0" y="741785"/>
                    <a:pt x="0" y="737346"/>
                  </a:cubicBezTo>
                  <a:lnTo>
                    <a:pt x="0" y="16737"/>
                  </a:lnTo>
                  <a:cubicBezTo>
                    <a:pt x="0" y="12298"/>
                    <a:pt x="1763" y="8041"/>
                    <a:pt x="4902" y="4902"/>
                  </a:cubicBezTo>
                  <a:cubicBezTo>
                    <a:pt x="8041" y="1763"/>
                    <a:pt x="12298" y="0"/>
                    <a:pt x="16737" y="0"/>
                  </a:cubicBezTo>
                  <a:close/>
                </a:path>
              </a:pathLst>
            </a:custGeom>
            <a:solidFill>
              <a:srgbClr val="E8EBF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071012" cy="792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93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979517" y="5301561"/>
            <a:ext cx="7863373" cy="2863161"/>
            <a:chOff x="0" y="0"/>
            <a:chExt cx="2071012" cy="7540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71012" cy="754083"/>
            </a:xfrm>
            <a:custGeom>
              <a:avLst/>
              <a:gdLst/>
              <a:ahLst/>
              <a:cxnLst/>
              <a:rect r="r" b="b" t="t" l="l"/>
              <a:pathLst>
                <a:path h="754083" w="2071012">
                  <a:moveTo>
                    <a:pt x="16737" y="0"/>
                  </a:moveTo>
                  <a:lnTo>
                    <a:pt x="2054275" y="0"/>
                  </a:lnTo>
                  <a:cubicBezTo>
                    <a:pt x="2058714" y="0"/>
                    <a:pt x="2062971" y="1763"/>
                    <a:pt x="2066110" y="4902"/>
                  </a:cubicBezTo>
                  <a:cubicBezTo>
                    <a:pt x="2069249" y="8041"/>
                    <a:pt x="2071012" y="12298"/>
                    <a:pt x="2071012" y="16737"/>
                  </a:cubicBezTo>
                  <a:lnTo>
                    <a:pt x="2071012" y="737346"/>
                  </a:lnTo>
                  <a:cubicBezTo>
                    <a:pt x="2071012" y="741785"/>
                    <a:pt x="2069249" y="746042"/>
                    <a:pt x="2066110" y="749181"/>
                  </a:cubicBezTo>
                  <a:cubicBezTo>
                    <a:pt x="2062971" y="752320"/>
                    <a:pt x="2058714" y="754083"/>
                    <a:pt x="2054275" y="754083"/>
                  </a:cubicBezTo>
                  <a:lnTo>
                    <a:pt x="16737" y="754083"/>
                  </a:lnTo>
                  <a:cubicBezTo>
                    <a:pt x="12298" y="754083"/>
                    <a:pt x="8041" y="752320"/>
                    <a:pt x="4902" y="749181"/>
                  </a:cubicBezTo>
                  <a:cubicBezTo>
                    <a:pt x="1763" y="746042"/>
                    <a:pt x="0" y="741785"/>
                    <a:pt x="0" y="737346"/>
                  </a:cubicBezTo>
                  <a:lnTo>
                    <a:pt x="0" y="16737"/>
                  </a:lnTo>
                  <a:cubicBezTo>
                    <a:pt x="0" y="12298"/>
                    <a:pt x="1763" y="8041"/>
                    <a:pt x="4902" y="4902"/>
                  </a:cubicBezTo>
                  <a:cubicBezTo>
                    <a:pt x="8041" y="1763"/>
                    <a:pt x="12298" y="0"/>
                    <a:pt x="16737" y="0"/>
                  </a:cubicBezTo>
                  <a:close/>
                </a:path>
              </a:pathLst>
            </a:custGeom>
            <a:solidFill>
              <a:srgbClr val="E8EBF1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071012" cy="792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93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01112" y="2272915"/>
            <a:ext cx="7448189" cy="23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8"/>
              </a:lnSpc>
            </a:pPr>
            <a:r>
              <a:rPr lang="en-US" sz="2634" b="true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More incremental models</a:t>
            </a:r>
          </a:p>
          <a:p>
            <a:pPr algn="l">
              <a:lnSpc>
                <a:spcPts val="3688"/>
              </a:lnSpc>
            </a:pPr>
          </a:p>
          <a:p>
            <a:pPr algn="l">
              <a:lnSpc>
                <a:spcPts val="3688"/>
              </a:lnSpc>
            </a:pPr>
            <a:r>
              <a:rPr lang="en-US" sz="2634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Apply the same pattern to price_change_history as history grows past a trivial size.</a:t>
            </a:r>
          </a:p>
          <a:p>
            <a:pPr algn="l">
              <a:lnSpc>
                <a:spcPts val="3688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9187109" y="2272915"/>
            <a:ext cx="7543734" cy="23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8"/>
              </a:lnSpc>
            </a:pPr>
            <a:r>
              <a:rPr lang="en-US" sz="2634" b="true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More sources</a:t>
            </a:r>
          </a:p>
          <a:p>
            <a:pPr algn="l">
              <a:lnSpc>
                <a:spcPts val="3688"/>
              </a:lnSpc>
            </a:pPr>
          </a:p>
          <a:p>
            <a:pPr algn="l">
              <a:lnSpc>
                <a:spcPts val="3688"/>
              </a:lnSpc>
            </a:pPr>
            <a:r>
              <a:rPr lang="en-US" sz="2634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Bring in a real second system (e.g. an inventory data) to test joins across genuinely different data shapes</a:t>
            </a:r>
          </a:p>
          <a:p>
            <a:pPr algn="l">
              <a:lnSpc>
                <a:spcPts val="3688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901112" y="5673036"/>
            <a:ext cx="7448189" cy="23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8"/>
              </a:lnSpc>
            </a:pPr>
            <a:r>
              <a:rPr lang="en-US" sz="2634" b="true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More visualisation</a:t>
            </a:r>
          </a:p>
          <a:p>
            <a:pPr algn="l">
              <a:lnSpc>
                <a:spcPts val="3688"/>
              </a:lnSpc>
            </a:pPr>
          </a:p>
          <a:p>
            <a:pPr algn="l">
              <a:lnSpc>
                <a:spcPts val="3688"/>
              </a:lnSpc>
            </a:pPr>
            <a:r>
              <a:rPr lang="en-US" sz="2634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Create connection to the Power BI. Build one simple report and maybe one dashboard for price changes.</a:t>
            </a:r>
          </a:p>
          <a:p>
            <a:pPr algn="l">
              <a:lnSpc>
                <a:spcPts val="3688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0" y="5673036"/>
            <a:ext cx="7448189" cy="23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8"/>
              </a:lnSpc>
            </a:pPr>
            <a:r>
              <a:rPr lang="en-US" sz="2634" b="true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More macros</a:t>
            </a:r>
          </a:p>
          <a:p>
            <a:pPr algn="l">
              <a:lnSpc>
                <a:spcPts val="3688"/>
              </a:lnSpc>
            </a:pPr>
          </a:p>
          <a:p>
            <a:pPr algn="l">
              <a:lnSpc>
                <a:spcPts val="3688"/>
              </a:lnSpc>
            </a:pPr>
            <a:r>
              <a:rPr lang="en-US" sz="2634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Apply more macros in data filtering. To cover more bussines goals in our database.</a:t>
            </a:r>
          </a:p>
          <a:p>
            <a:pPr algn="l">
              <a:lnSpc>
                <a:spcPts val="3688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18668" y="9772535"/>
            <a:ext cx="5450664" cy="514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3"/>
              </a:lnSpc>
            </a:pPr>
            <a:r>
              <a:rPr lang="en-US" sz="1495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 </a:t>
            </a:r>
            <a:r>
              <a:rPr lang="en-US" sz="1495" u="sng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 tooltip="https://github.com/dbt-labs"/>
              </a:rPr>
              <a:t>dbt-labs</a:t>
            </a:r>
            <a:r>
              <a:rPr lang="en-US" sz="1495" u="sng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95" u="sng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 tooltip="https://github.com/dbt-labs/jaffle-shop-classic"/>
              </a:rPr>
              <a:t>jaffle-shop-classic</a:t>
            </a:r>
            <a:r>
              <a:rPr lang="en-US" sz="1495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95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Imported at 17.08.2026 09:50:00</a:t>
            </a:r>
          </a:p>
          <a:p>
            <a:pPr algn="l">
              <a:lnSpc>
                <a:spcPts val="2093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3082890" y="3670296"/>
            <a:ext cx="12122221" cy="160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2"/>
              </a:lnSpc>
            </a:pPr>
            <a:r>
              <a:rPr lang="en-US" b="true" sz="4630" i="true">
                <a:solidFill>
                  <a:srgbClr val="1D5EA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Thank you for your attention! </a:t>
            </a:r>
          </a:p>
          <a:p>
            <a:pPr algn="ctr">
              <a:lnSpc>
                <a:spcPts val="6482"/>
              </a:lnSpc>
            </a:pPr>
            <a:r>
              <a:rPr lang="en-US" b="true" sz="4630" i="true">
                <a:solidFill>
                  <a:srgbClr val="1D5EA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I will be happy to answer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DAHS6CgLfAA</dc:identifier>
  <dcterms:modified xsi:type="dcterms:W3CDTF">2011-08-01T06:04:30Z</dcterms:modified>
  <cp:revision>1</cp:revision>
  <dc:title>Building a Production style dbt Pipeline in Snowflake</dc:title>
</cp:coreProperties>
</file>